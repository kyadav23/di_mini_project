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Hotel Revenue ($B)</c:v>
                </c:pt>
              </c:strCache>
            </c:strRef>
          </c:tx>
          <c:spPr>
            <a:solidFill>
              <a:srgbClr val="1C2B6B"/>
            </a:solidFill>
            <a:ln w="31750" cap="flat">
              <a:solidFill>
                <a:srgbClr val="1C2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2B6B"/>
              </a:solidFill>
              <a:ln w="9525" cap="flat">
                <a:solidFill>
                  <a:srgbClr val="1C2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570</c:v>
                </c:pt>
                <c:pt idx="1">
                  <c:v>612</c:v>
                </c:pt>
                <c:pt idx="2">
                  <c:v>651</c:v>
                </c:pt>
                <c:pt idx="3">
                  <c:v>295</c:v>
                </c:pt>
                <c:pt idx="4">
                  <c:v>390</c:v>
                </c:pt>
                <c:pt idx="5">
                  <c:v>522</c:v>
                </c:pt>
                <c:pt idx="6">
                  <c:v>630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Airline Revenue ($B)</c:v>
                </c:pt>
              </c:strCache>
            </c:strRef>
          </c:tx>
          <c:spPr>
            <a:solidFill>
              <a:srgbClr val="CC0000"/>
            </a:solidFill>
            <a:ln w="31750" cap="flat">
              <a:solidFill>
                <a:srgbClr val="CC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0000"/>
              </a:solidFill>
              <a:ln w="9525" cap="flat">
                <a:solidFill>
                  <a:srgbClr val="CC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2017</c:v>
                  </c:pt>
                  <c:pt idx="1">
                    <c:v>2018</c:v>
                  </c:pt>
                  <c:pt idx="2">
                    <c:v>2019</c:v>
                  </c:pt>
                  <c:pt idx="3">
                    <c:v>2020</c:v>
                  </c:pt>
                  <c:pt idx="4">
                    <c:v>2021</c:v>
                  </c:pt>
                  <c:pt idx="5">
                    <c:v>2022</c:v>
                  </c:pt>
                  <c:pt idx="6">
                    <c:v>2023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820</c:v>
                </c:pt>
                <c:pt idx="1">
                  <c:v>860</c:v>
                </c:pt>
                <c:pt idx="2">
                  <c:v>901</c:v>
                </c:pt>
                <c:pt idx="3">
                  <c:v>271</c:v>
                </c:pt>
                <c:pt idx="4">
                  <c:v>437</c:v>
                </c:pt>
                <c:pt idx="5">
                  <c:v>580</c:v>
                </c:pt>
                <c:pt idx="6">
                  <c:v>755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5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Lost ($B)</c:v>
                </c:pt>
              </c:strCache>
            </c:strRef>
          </c:tx>
          <c:spPr>
            <a:solidFill>
              <a:srgbClr val="1C2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2B6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C00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2B6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2B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2B6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2B6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Hotels</c:v>
                  </c:pt>
                  <c:pt idx="1">
                    <c:v>Airlines</c:v>
                  </c:pt>
                  <c:pt idx="2">
                    <c:v>Restaurants</c:v>
                  </c:pt>
                  <c:pt idx="3">
                    <c:v>Events</c:v>
                  </c:pt>
                  <c:pt idx="4">
                    <c:v>Travel Agencies</c:v>
                  </c:pt>
                  <c:pt idx="5">
                    <c:v>Cruise Lines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356</c:v>
                </c:pt>
                <c:pt idx="1">
                  <c:v>630</c:v>
                </c:pt>
                <c:pt idx="2">
                  <c:v>418</c:v>
                </c:pt>
                <c:pt idx="3">
                  <c:v>262</c:v>
                </c:pt>
                <c:pt idx="4">
                  <c:v>128</c:v>
                </c:pt>
                <c:pt idx="5">
                  <c:v>138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5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Hospitality &amp; Tourism</c:v>
                </c:pt>
              </c:strCache>
            </c:strRef>
          </c:tx>
          <c:spPr>
            <a:solidFill>
              <a:srgbClr val="1C2B6B"/>
            </a:solidFill>
            <a:ln w="31750" cap="flat">
              <a:solidFill>
                <a:srgbClr val="1C2B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2B6B"/>
              </a:solidFill>
              <a:ln w="9525" cap="flat">
                <a:solidFill>
                  <a:srgbClr val="1C2B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Q1'20</c:v>
                  </c:pt>
                  <c:pt idx="1">
                    <c:v>Q2'20</c:v>
                  </c:pt>
                  <c:pt idx="2">
                    <c:v>Q3'20</c:v>
                  </c:pt>
                  <c:pt idx="3">
                    <c:v>Q4'20</c:v>
                  </c:pt>
                  <c:pt idx="4">
                    <c:v>Q1'21</c:v>
                  </c:pt>
                  <c:pt idx="5">
                    <c:v>Q2'21</c:v>
                  </c:pt>
                  <c:pt idx="6">
                    <c:v>Q3'21</c:v>
                  </c:pt>
                  <c:pt idx="7">
                    <c:v>Q4'21</c:v>
                  </c:pt>
                  <c:pt idx="8">
                    <c:v>Q1'22</c:v>
                  </c:pt>
                  <c:pt idx="9">
                    <c:v>Q2'22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</c:v>
                </c:pt>
                <c:pt idx="1">
                  <c:v>35</c:v>
                </c:pt>
                <c:pt idx="2">
                  <c:v>52</c:v>
                </c:pt>
                <c:pt idx="3">
                  <c:v>45</c:v>
                </c:pt>
                <c:pt idx="4">
                  <c:v>48</c:v>
                </c:pt>
                <c:pt idx="5">
                  <c:v>60</c:v>
                </c:pt>
                <c:pt idx="6">
                  <c:v>70</c:v>
                </c:pt>
                <c:pt idx="7">
                  <c:v>75</c:v>
                </c:pt>
                <c:pt idx="8">
                  <c:v>82</c:v>
                </c:pt>
                <c:pt idx="9">
                  <c:v>90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16A34A"/>
            </a:solidFill>
            <a:ln w="31750" cap="flat">
              <a:solidFill>
                <a:srgbClr val="16A3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Q1'20</c:v>
                  </c:pt>
                  <c:pt idx="1">
                    <c:v>Q2'20</c:v>
                  </c:pt>
                  <c:pt idx="2">
                    <c:v>Q3'20</c:v>
                  </c:pt>
                  <c:pt idx="3">
                    <c:v>Q4'20</c:v>
                  </c:pt>
                  <c:pt idx="4">
                    <c:v>Q1'21</c:v>
                  </c:pt>
                  <c:pt idx="5">
                    <c:v>Q2'21</c:v>
                  </c:pt>
                  <c:pt idx="6">
                    <c:v>Q3'21</c:v>
                  </c:pt>
                  <c:pt idx="7">
                    <c:v>Q4'21</c:v>
                  </c:pt>
                  <c:pt idx="8">
                    <c:v>Q1'22</c:v>
                  </c:pt>
                  <c:pt idx="9">
                    <c:v>Q2'22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88</c:v>
                </c:pt>
                <c:pt idx="1">
                  <c:v>60</c:v>
                </c:pt>
                <c:pt idx="2">
                  <c:v>82</c:v>
                </c:pt>
                <c:pt idx="3">
                  <c:v>86</c:v>
                </c:pt>
                <c:pt idx="4">
                  <c:v>84</c:v>
                </c:pt>
                <c:pt idx="5">
                  <c:v>89</c:v>
                </c:pt>
                <c:pt idx="6">
                  <c:v>93</c:v>
                </c:pt>
                <c:pt idx="7">
                  <c:v>95</c:v>
                </c:pt>
                <c:pt idx="8">
                  <c:v>97</c:v>
                </c:pt>
                <c:pt idx="9">
                  <c:v>99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Airlines</c:v>
                </c:pt>
              </c:strCache>
            </c:strRef>
          </c:tx>
          <c:spPr>
            <a:solidFill>
              <a:srgbClr val="CC0000"/>
            </a:solidFill>
            <a:ln w="31750" cap="flat">
              <a:solidFill>
                <a:srgbClr val="CC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C0000"/>
              </a:solidFill>
              <a:ln w="9525" cap="flat">
                <a:solidFill>
                  <a:srgbClr val="CC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Q1'20</c:v>
                  </c:pt>
                  <c:pt idx="1">
                    <c:v>Q2'20</c:v>
                  </c:pt>
                  <c:pt idx="2">
                    <c:v>Q3'20</c:v>
                  </c:pt>
                  <c:pt idx="3">
                    <c:v>Q4'20</c:v>
                  </c:pt>
                  <c:pt idx="4">
                    <c:v>Q1'21</c:v>
                  </c:pt>
                  <c:pt idx="5">
                    <c:v>Q2'21</c:v>
                  </c:pt>
                  <c:pt idx="6">
                    <c:v>Q3'21</c:v>
                  </c:pt>
                  <c:pt idx="7">
                    <c:v>Q4'21</c:v>
                  </c:pt>
                  <c:pt idx="8">
                    <c:v>Q1'22</c:v>
                  </c:pt>
                  <c:pt idx="9">
                    <c:v>Q2'22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82</c:v>
                </c:pt>
                <c:pt idx="1">
                  <c:v>28</c:v>
                </c:pt>
                <c:pt idx="2">
                  <c:v>45</c:v>
                </c:pt>
                <c:pt idx="3">
                  <c:v>40</c:v>
                </c:pt>
                <c:pt idx="4">
                  <c:v>42</c:v>
                </c:pt>
                <c:pt idx="5">
                  <c:v>52</c:v>
                </c:pt>
                <c:pt idx="6">
                  <c:v>62</c:v>
                </c:pt>
                <c:pt idx="7">
                  <c:v>68</c:v>
                </c:pt>
                <c:pt idx="8">
                  <c:v>75</c:v>
                </c:pt>
                <c:pt idx="9">
                  <c:v>85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5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85800"/>
            <a:ext cx="9144000" cy="201168"/>
          </a:xfrm>
          <a:prstGeom prst="rect">
            <a:avLst/>
          </a:prstGeom>
          <a:solidFill>
            <a:srgbClr val="E6E9F4"/>
          </a:solidFill>
          <a:ln w="12700">
            <a:solidFill>
              <a:srgbClr val="E6E9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8580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Bachelors of Computer Applications  |  Data Interpretation  |  22CAR-353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-274320" y="10058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A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7000" dirty="0"/>
          </a:p>
        </p:txBody>
      </p:sp>
      <p:sp>
        <p:nvSpPr>
          <p:cNvPr id="9" name="Text 7"/>
          <p:cNvSpPr/>
          <p:nvPr/>
        </p:nvSpPr>
        <p:spPr>
          <a:xfrm>
            <a:off x="2926080" y="23774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A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70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EA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Report — Hospitality &amp; Tourism Sector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0" y="3291840"/>
            <a:ext cx="18288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204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Name:  </a:t>
            </a:r>
            <a:pPr indent="0" marL="0">
              <a:buNone/>
            </a:pPr>
            <a:r>
              <a:rPr lang="en-US" sz="1150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Khushbu Yadav
</a:t>
            </a:r>
            <a:pPr indent="0" marL="0">
              <a:buNone/>
            </a:pPr>
            <a:r>
              <a:rPr lang="en-US" sz="115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UID:  </a:t>
            </a:r>
            <a:pPr indent="0" marL="0">
              <a:buNone/>
            </a:pPr>
            <a:r>
              <a:rPr lang="en-US" sz="1150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23BSC10001
</a:t>
            </a:r>
            <a:pPr indent="0" marL="0">
              <a:buNone/>
            </a:pPr>
            <a:r>
              <a:rPr lang="en-US" sz="115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Section:  </a:t>
            </a:r>
            <a:pPr indent="0" marL="0">
              <a:buNone/>
            </a:pPr>
            <a:r>
              <a:rPr lang="en-US" sz="1150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23BSC-1(A)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0" y="685800"/>
            <a:ext cx="4114800" cy="4178808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D3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D3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Tourism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D3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21208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Impact of COVID-19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65760" y="1481328"/>
            <a:ext cx="109728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6420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declared COVID-19 a global pandemic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11, 2020, triggering worldwide lockdowns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travel bans.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514600"/>
            <a:ext cx="4389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airlines, restaurants &amp; events hit hardest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valued at $9.6 Trillion pre-COVID (2019)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requires physical presence by nature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tracked from 2021 through 2023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covers key economic indicators for Hospitality &amp; Tourism, 2017–2023.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4023360" cy="256032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Indicators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42316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Tourism Revenue (2017–2023)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&amp; Airline Revenue ($B)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Growth Rate (%)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Tourist Arrivals (Billion)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Occupancy Rate (%)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023360" cy="256032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Categories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242316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 across sub-sectors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figures (Million workers)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closures &amp; permanent shutdowns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relief measures by country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Index (Q1 2020 – Q2 2022)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Indicators at a Glance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WTTC, IATA, World Bank  |  COVID-19 Peak Impact: 2020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828800"/>
            <a:ext cx="201168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1031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74320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(2020)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3840480"/>
            <a:ext cx="9144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82880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828800"/>
            <a:ext cx="2011680" cy="64008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21031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Million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450592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Lost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Peak COVID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99232" y="3840480"/>
            <a:ext cx="914400" cy="36576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82880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828800"/>
            <a:ext cx="20116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21031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→ 25%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26864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Occupancy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to 2020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75504" y="3840480"/>
            <a:ext cx="914400" cy="365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828800"/>
            <a:ext cx="201168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03136" y="1828800"/>
            <a:ext cx="2011680" cy="640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2103120"/>
            <a:ext cx="2011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−3.4%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803136" y="301752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GDP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Contraction (2020)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51776" y="3840480"/>
            <a:ext cx="9144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57200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figures represent the sharpest economic contraction in modern history for the Hospitality &amp; Tourism sector.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&amp; Revenue Analysis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63040"/>
          <a:ext cx="50292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669280" y="14630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0" y="1847088"/>
            <a:ext cx="82296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1993392"/>
            <a:ext cx="3200400" cy="658368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02996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GDP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760720" y="225856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Shrank −3.4%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since Great Depression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669280" y="2724912"/>
            <a:ext cx="3200400" cy="658368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0" y="276148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Revenue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60720" y="299008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 from $651B → $295B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(−54.7%)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456432"/>
            <a:ext cx="3200400" cy="658368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0" y="349300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 Revenue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60720" y="372160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Collapsed from $901B → $271B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(−69.9%)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4187952"/>
            <a:ext cx="3200400" cy="658368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0" y="42245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Recovery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5760720" y="4453128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neared $9.1T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(vs $9.6T in 2019)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Loss by Sub-Sector (2020)</a:t>
            </a:r>
            <a:endParaRPr lang="en-US" sz="2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463040"/>
          <a:ext cx="530352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594360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Lost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0" y="1847088"/>
            <a:ext cx="82296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0" y="2011680"/>
            <a:ext cx="384048" cy="384048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0" y="20116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2128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loss — $630B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(−69.9% from 2019)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0" y="2971800"/>
            <a:ext cx="384048" cy="384048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00800" y="297180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Entertainment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0" y="317296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hit rate — 81.9%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to just $58B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43600" y="3931920"/>
            <a:ext cx="384048" cy="384048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0" y="3931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00800" y="393192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Total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0" y="413308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$1.93 Trillion lost across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sub-sectors in 2020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303520" y="685800"/>
            <a:ext cx="3840480" cy="4178808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4630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D3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Million</a:t>
            </a:r>
            <a:endParaRPr lang="en-US" sz="3800" dirty="0"/>
          </a:p>
          <a:p>
            <a:pPr algn="ctr" indent="0" marL="0">
              <a:buNone/>
            </a:pPr>
            <a:r>
              <a:rPr lang="en-US" sz="3800" b="1" dirty="0">
                <a:solidFill>
                  <a:srgbClr val="2D3D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Lost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5303520" y="28803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peak COVID impact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(2020)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3520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Rate by 2022: 90.1%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914400"/>
            <a:ext cx="4663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Impact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65760" y="1417320"/>
            <a:ext cx="9144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00200"/>
            <a:ext cx="347472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6002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1600200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Pre-COVID (2019)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8013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 million employed sector-wide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313432"/>
            <a:ext cx="347472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134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313432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Impact (2020)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51460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52.6 million — a 45.6% drop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26664"/>
            <a:ext cx="347472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266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3026664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(2021)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2278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69.9 million jobs restored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39896"/>
            <a:ext cx="347472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39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373989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2022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941064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million — near full recovery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Closures &amp; Government Relief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Closures (2020)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109728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011680"/>
            <a:ext cx="320040" cy="32004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6 hotels globally closed permanently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633472"/>
            <a:ext cx="320040" cy="32004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633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2633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of independent restaurants did not reopen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320040" cy="32004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55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2552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airlines bankrupt or required government bailout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320040" cy="32004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87705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travel agencies ceased operations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463040"/>
            <a:ext cx="4114800" cy="320040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5727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Relief Measures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993392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0299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States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2212848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PPP + Airline Grants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20665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487168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52374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Union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2706624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 Resilience Fund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25603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€750B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46320" y="2980944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0175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37760" y="320040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Retention Scheme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305409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£70B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46320" y="3474720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351129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369417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Garib Kalyan Yojana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35478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$266B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46320" y="3968496"/>
            <a:ext cx="3840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005072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37760" y="418795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Sector Waivers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04164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$10B+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0"/>
            <a:ext cx="1371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Tracker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38988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Recovery Index — Pre-COVID Baseline = 100  |  Q1 2020 to Q2 2022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65760" y="1700784"/>
          <a:ext cx="5486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035040" y="1737360"/>
            <a:ext cx="2834640" cy="86868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035040" y="1737360"/>
            <a:ext cx="283464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80760" y="1792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080760" y="2167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point — Q2 2020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(Hospitality Index)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35040" y="2697480"/>
            <a:ext cx="2834640" cy="86868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2697480"/>
            <a:ext cx="2834640" cy="54864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80760" y="275234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2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/ 100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6080760" y="31272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by Q2 2022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(Hospitality)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3657600"/>
            <a:ext cx="2834640" cy="868680"/>
          </a:xfrm>
          <a:prstGeom prst="rect">
            <a:avLst/>
          </a:prstGeom>
          <a:solidFill>
            <a:srgbClr val="F4F5F8"/>
          </a:solidFill>
          <a:ln w="12700">
            <a:solidFill>
              <a:srgbClr val="DDDD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035040" y="3657600"/>
            <a:ext cx="28346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371246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080760" y="408736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Near-full tourism recovery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($9.1T revenue)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1C2B6B"/>
          </a:solidFill>
          <a:ln w="12700">
            <a:solidFill>
              <a:srgbClr val="1C2B6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  <a:ln/>
        </p:spPr>
        <p:txBody>
          <a:bodyPr wrap="square" lIns="0" tIns="0" rIns="3175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. </a:t>
            </a:r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B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64008"/>
            <a:ext cx="1371600" cy="6217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64008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A+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400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INSTITUTE OF COMPUTING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840480" y="1389888"/>
            <a:ext cx="146304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572768"/>
            <a:ext cx="2743200" cy="2834640"/>
          </a:xfrm>
          <a:prstGeom prst="rect">
            <a:avLst/>
          </a:prstGeom>
          <a:solidFill>
            <a:srgbClr val="243477"/>
          </a:solidFill>
          <a:ln w="12700">
            <a:solidFill>
              <a:srgbClr val="3D4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Data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2377440"/>
            <a:ext cx="128016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8716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revenue fell from $9.6T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$4.5T — a $5.1T loss in 2020.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occupancy: 71% → 25%.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572768"/>
            <a:ext cx="2743200" cy="2834640"/>
          </a:xfrm>
          <a:prstGeom prst="rect">
            <a:avLst/>
          </a:prstGeom>
          <a:solidFill>
            <a:srgbClr val="243477"/>
          </a:solidFill>
          <a:ln w="12700">
            <a:solidFill>
              <a:srgbClr val="3D4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691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23360" y="2377440"/>
            <a:ext cx="128016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248716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44M jobs lost. Hospitality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 peaked at 24.5%.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lost $630B in revenue.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72768"/>
            <a:ext cx="2743200" cy="2834640"/>
          </a:xfrm>
          <a:prstGeom prst="rect">
            <a:avLst/>
          </a:prstGeom>
          <a:solidFill>
            <a:srgbClr val="243477"/>
          </a:solidFill>
          <a:ln w="12700">
            <a:solidFill>
              <a:srgbClr val="3D4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69164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&amp;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49440" y="2377440"/>
            <a:ext cx="128016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2487168"/>
            <a:ext cx="24688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Q2 2022, Index reached 90/100.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relief totalled $305B+.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recovery achieved by 2023.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480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773168"/>
            <a:ext cx="420624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773168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Diversify revenue streams &amp; build digital capabilities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46320" y="4773168"/>
            <a:ext cx="420624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773168"/>
            <a:ext cx="42062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Strengthen government–industry emergency frameworks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CC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 .  LEARN  .  EMPOWER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2026-04-13T03:58:56Z</dcterms:created>
  <dcterms:modified xsi:type="dcterms:W3CDTF">2026-04-13T03:58:56Z</dcterms:modified>
</cp:coreProperties>
</file>